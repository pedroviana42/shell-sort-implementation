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1171491"/>
            <a:ext cx="8572500" cy="280051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1171491"/>
            <a:ext cx="57150" cy="2800517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1716398"/>
            <a:ext cx="8358188" cy="766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4350" b="1" spc="-2" kern="0" dirty="0">
                <a:solidFill>
                  <a:srgbClr val="00F2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SHELL SORT EM VETORES</a:t>
            </a:r>
            <a:endParaRPr lang="en-US" sz="4350" dirty="0"/>
          </a:p>
        </p:txBody>
      </p:sp>
      <p:sp>
        <p:nvSpPr>
          <p:cNvPr id="6" name="Text 3"/>
          <p:cNvSpPr/>
          <p:nvPr/>
        </p:nvSpPr>
        <p:spPr>
          <a:xfrm>
            <a:off x="785813" y="2672293"/>
            <a:ext cx="8358188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Projeto e Análise de Algoritmos (PAA)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85813" y="3234863"/>
            <a:ext cx="2828925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Leonardo Felipe Roncolato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671888" y="3234863"/>
            <a:ext cx="2828925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 Clara Nery e Mello Figueiredo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85813" y="3433437"/>
            <a:ext cx="2828925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Maria Clara Rossetti A L Manrique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671888" y="3433437"/>
            <a:ext cx="2828925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Paulo Rocha Lima de Souza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85813" y="3632011"/>
            <a:ext cx="2828925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Laryssa Fernanda Alves Santos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671888" y="3632011"/>
            <a:ext cx="2828925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Pedro Augusto Bandeira Viana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85813" y="3830585"/>
            <a:ext cx="2828925" cy="14142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Guilherme Emanuel Oliveira Guimarães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572500" cy="10958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0"/>
            <a:ext cx="57150" cy="109589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658341"/>
            <a:ext cx="8358188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F2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 QUE É O SHELL SORT?</a:t>
            </a:r>
            <a:endParaRPr lang="en-US" sz="2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3" y="1468487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2963" y="1939975"/>
            <a:ext cx="372189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Generalização do Inserção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842963" y="2290018"/>
            <a:ext cx="37218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Shell Sort é um algoritmo de ordenação por comparação que estende o conceito do Insertion Sort, permitindo trocas de elementos distantes.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63" y="3118693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2963" y="3590181"/>
            <a:ext cx="372189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Contexto Histórico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842963" y="3940225"/>
            <a:ext cx="37218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Proposto por </a:t>
            </a:r>
            <a:r>
              <a:rPr lang="en-US" sz="1000" b="1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Donald Shell em 1959</a:t>
            </a:r>
            <a:r>
              <a:rPr lang="en-US" sz="10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foi um marco na </a:t>
            </a:r>
            <a:r>
              <a:rPr lang="en-US" sz="10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computação por ser o primeiro a superar a </a:t>
            </a:r>
            <a:r>
              <a:rPr lang="en-US" sz="10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complexidade quadrática O(n²).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4850606" y="1554212"/>
            <a:ext cx="3721894" cy="1314450"/>
          </a:xfrm>
          <a:prstGeom prst="rect">
            <a:avLst/>
          </a:prstGeom>
          <a:solidFill>
            <a:srgbClr val="00F2FF">
              <a:alpha val="5000"/>
            </a:srgbClr>
          </a:solidFill>
          <a:ln w="9144">
            <a:solidFill>
              <a:srgbClr val="00F2FF">
                <a:alpha val="20000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964906" y="1825675"/>
            <a:ext cx="3493294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"O algoritmo funciona permitindo a troca de itens que estão distantes, reduzindo drasticamente o número de movimentações necessárias para ordenar o vetor."</a:t>
            </a:r>
            <a:endParaRPr lang="en-US" sz="11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606" y="2997250"/>
            <a:ext cx="17145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850606" y="3468737"/>
            <a:ext cx="372189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Eficiência Inicial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850606" y="3818781"/>
            <a:ext cx="37218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pré-ordenar elementos distantes, o algoritmo prepara o vetor para uma fase final de inserção extremamente rápida.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572500" cy="10958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0"/>
            <a:ext cx="57150" cy="1095896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658341"/>
            <a:ext cx="8358188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FF4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 EVOLUÇÃO DO INSERTION SORT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842963" y="1611362"/>
            <a:ext cx="3721894" cy="2255639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42963" y="1611362"/>
            <a:ext cx="3721894" cy="28575"/>
          </a:xfrm>
          <a:prstGeom prst="rect">
            <a:avLst/>
          </a:prstGeom>
          <a:solidFill>
            <a:srgbClr val="00FF4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2061418"/>
            <a:ext cx="171450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35881" y="2025700"/>
            <a:ext cx="1105495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Problema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1343025" y="2411462"/>
            <a:ext cx="3007519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Eficiente apenas para vetores quase ordenados.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1343025" y="2829371"/>
            <a:ext cx="30075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Lento para elementos muito fora de posição.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1343025" y="3091904"/>
            <a:ext cx="30075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 elementos apenas uma casa por vez.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343025" y="3354437"/>
            <a:ext cx="30075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Complexidade O(n²) no pior caso.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850606" y="1611362"/>
            <a:ext cx="3721894" cy="2227064"/>
          </a:xfrm>
          <a:prstGeom prst="rect">
            <a:avLst/>
          </a:prstGeom>
          <a:solidFill>
            <a:srgbClr val="FFFFFF">
              <a:alpha val="3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4850606" y="1611362"/>
            <a:ext cx="3721894" cy="28575"/>
          </a:xfrm>
          <a:prstGeom prst="rect">
            <a:avLst/>
          </a:prstGeom>
          <a:solidFill>
            <a:srgbClr val="00FF4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4919" y="2061418"/>
            <a:ext cx="171450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43525" y="2025700"/>
            <a:ext cx="95726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Solução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350669" y="2411462"/>
            <a:ext cx="30075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Ordena subgrupos de elementos distantes.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5350669" y="2673995"/>
            <a:ext cx="30075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Reduz drasticamente as movimentações.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5350669" y="2936528"/>
            <a:ext cx="30075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Prepara o vetor para a inserção final.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5350669" y="3199061"/>
            <a:ext cx="3007519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Supera a barreira quadrática de performance.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842963" y="4124176"/>
            <a:ext cx="7729538" cy="350044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200" b="1" spc="3" kern="0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MOVIMENTOS CURTOS PARA SALTOS ESTRATÉGICOS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3603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572500" cy="10958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0"/>
            <a:ext cx="57150" cy="109589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658341"/>
            <a:ext cx="8358188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F2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 CONCEITO FUNDAMENTAL DE GAPS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842963" y="1782812"/>
            <a:ext cx="4423404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1" kern="0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H-SORTING (INCREMENTOS)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2963" y="2125712"/>
            <a:ext cx="4423404" cy="651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Shell Sort utiliza uma sequência de incrementos </a:t>
            </a:r>
            <a:r>
              <a:rPr lang="en-US" sz="1000" i="1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</a:t>
            </a:r>
            <a:r>
              <a:rPr lang="en-US" sz="10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Em cada </a:t>
            </a:r>
            <a:r>
              <a:rPr lang="en-US" sz="10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iteração, o vetor é tratado como se fosse composto por vários sub-</a:t>
            </a:r>
            <a:r>
              <a:rPr lang="en-US" sz="10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vetores intercalados.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42963" y="2991501"/>
            <a:ext cx="4423404" cy="10287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6"/>
          <p:cNvSpPr/>
          <p:nvPr/>
        </p:nvSpPr>
        <p:spPr>
          <a:xfrm>
            <a:off x="842963" y="2991501"/>
            <a:ext cx="28575" cy="102870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10" name="Text 7"/>
          <p:cNvSpPr/>
          <p:nvPr/>
        </p:nvSpPr>
        <p:spPr>
          <a:xfrm>
            <a:off x="842963" y="2991501"/>
            <a:ext cx="4423404" cy="1028700"/>
          </a:xfrm>
          <a:prstGeom prst="rect">
            <a:avLst/>
          </a:prstGeom>
          <a:noFill/>
          <a:ln/>
        </p:spPr>
        <p:txBody>
          <a:bodyPr wrap="square" lIns="212598" tIns="212598" rIns="212598" bIns="212598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F2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Exemplo de lógica de Gap</a:t>
            </a:r>
            <a:r>
              <a:rPr lang="en-US" sz="950" dirty="0">
                <a:solidFill>
                  <a:srgbClr val="00F2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00F2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for (int gap = n/2; gap &gt; 0; gap /= 2) {</a:t>
            </a:r>
            <a:r>
              <a:rPr lang="en-US" sz="950" dirty="0">
                <a:solidFill>
                  <a:srgbClr val="00F2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00F2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// Realiza Insertion Sort para o gap atual</a:t>
            </a:r>
            <a:r>
              <a:rPr lang="en-US" sz="950" dirty="0">
                <a:solidFill>
                  <a:srgbClr val="00F2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
</a:t>
            </a:r>
            <a:r>
              <a:rPr lang="en-US" sz="950" dirty="0">
                <a:solidFill>
                  <a:srgbClr val="00F2FF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842963" y="4370245"/>
            <a:ext cx="4423404" cy="651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medida que o algoritmo progride, o valor de </a:t>
            </a:r>
            <a:r>
              <a:rPr lang="en-US" sz="950" b="1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</a:t>
            </a:r>
            <a:r>
              <a:rPr lang="en-US" sz="10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diminui até chegar a </a:t>
            </a:r>
            <a:r>
              <a:rPr lang="en-US" sz="10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 onde se torna um Insertion Sort comum sobre um vetor já pré-</a:t>
            </a:r>
            <a:r>
              <a:rPr lang="en-US" sz="100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ordenado.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623554" y="1611362"/>
            <a:ext cx="2948946" cy="2228850"/>
          </a:xfrm>
          <a:prstGeom prst="rect">
            <a:avLst/>
          </a:prstGeom>
          <a:solidFill>
            <a:srgbClr val="00FF41">
              <a:alpha val="5000"/>
            </a:srgbClr>
          </a:solidFill>
          <a:ln w="9144">
            <a:solidFill>
              <a:srgbClr val="00FF41">
                <a:alpha val="2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02148" y="1932831"/>
            <a:ext cx="259175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Sequências de Gaps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02148" y="2248942"/>
            <a:ext cx="259175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Sequência de Shell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802148" y="2422178"/>
            <a:ext cx="108585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n/2, n/4, ..., 1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802148" y="2715071"/>
            <a:ext cx="259175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Sequência de Knuth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5802148" y="2888307"/>
            <a:ext cx="6786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h = 3h + 1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802148" y="3181201"/>
            <a:ext cx="259175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Sequência de Sedgewick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802148" y="3354437"/>
            <a:ext cx="1425178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4^k + 3 * 2^(k-1) + 1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572500" cy="10958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0"/>
            <a:ext cx="57150" cy="109589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658341"/>
            <a:ext cx="8358188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F2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VISUALIZAÇÃO DO PROCESSO DE GAPS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842963" y="1397050"/>
            <a:ext cx="21431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Passo 1: Gap Grande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42963" y="1661368"/>
            <a:ext cx="21431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Ex: Gap = 4. Compara elementos em índices distantes (0 e 4, 1 e 5).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414713" y="1503480"/>
            <a:ext cx="371475" cy="371475"/>
          </a:xfrm>
          <a:prstGeom prst="rect">
            <a:avLst/>
          </a:prstGeom>
          <a:solidFill>
            <a:srgbClr val="00F2FF">
              <a:alpha val="20000"/>
            </a:srgbClr>
          </a:solidFill>
          <a:ln w="9144">
            <a:solidFill>
              <a:srgbClr val="00F2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14713" y="1503480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843338" y="1503480"/>
            <a:ext cx="371475" cy="371475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00F2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3338" y="1503480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271963" y="1503480"/>
            <a:ext cx="371475" cy="371475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00F2FF">
                <a:alpha val="3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271963" y="1503480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00588" y="1503480"/>
            <a:ext cx="371475" cy="371475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00F2FF">
                <a:alpha val="3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00588" y="1503480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129213" y="1503480"/>
            <a:ext cx="371475" cy="371475"/>
          </a:xfrm>
          <a:prstGeom prst="rect">
            <a:avLst/>
          </a:prstGeom>
          <a:solidFill>
            <a:srgbClr val="00F2FF">
              <a:alpha val="20000"/>
            </a:srgbClr>
          </a:solidFill>
          <a:ln w="9144">
            <a:solidFill>
              <a:srgbClr val="00F2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29213" y="1503480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557838" y="1503480"/>
            <a:ext cx="371475" cy="371475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00F2FF">
                <a:alpha val="3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57838" y="1503480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986463" y="1503480"/>
            <a:ext cx="371475" cy="371475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00F2FF">
                <a:alpha val="3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86463" y="1503480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15088" y="1503480"/>
            <a:ext cx="371475" cy="371475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00F2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15088" y="1503480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842963" y="2124261"/>
            <a:ext cx="21431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Passo 2: Gap Médio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42963" y="2388580"/>
            <a:ext cx="21431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Ex: Gap = 2. Refina a ordenação comparando elementos mais próximos.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3414713" y="2230692"/>
            <a:ext cx="371475" cy="371475"/>
          </a:xfrm>
          <a:prstGeom prst="rect">
            <a:avLst/>
          </a:prstGeom>
          <a:solidFill>
            <a:srgbClr val="00F2FF">
              <a:alpha val="20000"/>
            </a:srgbClr>
          </a:solidFill>
          <a:ln w="9144">
            <a:solidFill>
              <a:srgbClr val="00F2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14713" y="2230692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843338" y="2230692"/>
            <a:ext cx="371475" cy="371475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00F2FF">
                <a:alpha val="3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843338" y="2230692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271963" y="2230692"/>
            <a:ext cx="371475" cy="371475"/>
          </a:xfrm>
          <a:prstGeom prst="rect">
            <a:avLst/>
          </a:prstGeom>
          <a:solidFill>
            <a:srgbClr val="00F2FF">
              <a:alpha val="20000"/>
            </a:srgbClr>
          </a:solidFill>
          <a:ln w="9144">
            <a:solidFill>
              <a:srgbClr val="00F2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271963" y="2230692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700588" y="2230692"/>
            <a:ext cx="371475" cy="371475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00F2FF">
                <a:alpha val="3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700588" y="2230692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129213" y="2230692"/>
            <a:ext cx="371475" cy="371475"/>
          </a:xfrm>
          <a:prstGeom prst="rect">
            <a:avLst/>
          </a:prstGeom>
          <a:solidFill>
            <a:srgbClr val="00F2FF">
              <a:alpha val="20000"/>
            </a:srgbClr>
          </a:solidFill>
          <a:ln w="9144">
            <a:solidFill>
              <a:srgbClr val="00F2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129213" y="2230692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557838" y="2230692"/>
            <a:ext cx="371475" cy="371475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00F2FF">
                <a:alpha val="3000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557838" y="2230692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5986463" y="2230692"/>
            <a:ext cx="371475" cy="371475"/>
          </a:xfrm>
          <a:prstGeom prst="rect">
            <a:avLst/>
          </a:prstGeom>
          <a:solidFill>
            <a:srgbClr val="00F2FF">
              <a:alpha val="20000"/>
            </a:srgbClr>
          </a:solidFill>
          <a:ln w="9144">
            <a:solidFill>
              <a:srgbClr val="00F2FF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986463" y="2230692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6415088" y="2230692"/>
            <a:ext cx="371475" cy="371475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00F2FF">
                <a:alpha val="3000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15088" y="2230692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842963" y="2851472"/>
            <a:ext cx="2143125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Passo 3: Gap Final (h=1)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42963" y="3115791"/>
            <a:ext cx="214312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Torna-se um Insertion Sort comum, mas sobre um vetor quase ordenado.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3414713" y="2957903"/>
            <a:ext cx="371475" cy="371475"/>
          </a:xfrm>
          <a:prstGeom prst="rect">
            <a:avLst/>
          </a:prstGeom>
          <a:solidFill>
            <a:srgbClr val="00FF41">
              <a:alpha val="2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414713" y="2957903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843338" y="2957903"/>
            <a:ext cx="371475" cy="371475"/>
          </a:xfrm>
          <a:prstGeom prst="rect">
            <a:avLst/>
          </a:prstGeom>
          <a:solidFill>
            <a:srgbClr val="00FF41">
              <a:alpha val="2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843338" y="2957903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271963" y="2957903"/>
            <a:ext cx="371475" cy="371475"/>
          </a:xfrm>
          <a:prstGeom prst="rect">
            <a:avLst/>
          </a:prstGeom>
          <a:solidFill>
            <a:srgbClr val="00FF41">
              <a:alpha val="2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4271963" y="2957903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4700588" y="2957903"/>
            <a:ext cx="371475" cy="371475"/>
          </a:xfrm>
          <a:prstGeom prst="rect">
            <a:avLst/>
          </a:prstGeom>
          <a:solidFill>
            <a:srgbClr val="00FF41">
              <a:alpha val="2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700588" y="2957903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5129213" y="2957903"/>
            <a:ext cx="371475" cy="371475"/>
          </a:xfrm>
          <a:prstGeom prst="rect">
            <a:avLst/>
          </a:prstGeom>
          <a:solidFill>
            <a:srgbClr val="00FF41">
              <a:alpha val="2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129213" y="2957903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5557838" y="2957903"/>
            <a:ext cx="371475" cy="371475"/>
          </a:xfrm>
          <a:prstGeom prst="rect">
            <a:avLst/>
          </a:prstGeom>
          <a:solidFill>
            <a:srgbClr val="00FF41">
              <a:alpha val="2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557838" y="2957903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5986463" y="2957903"/>
            <a:ext cx="371475" cy="371475"/>
          </a:xfrm>
          <a:prstGeom prst="rect">
            <a:avLst/>
          </a:prstGeom>
          <a:solidFill>
            <a:srgbClr val="00FF41">
              <a:alpha val="2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986463" y="2957903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6415088" y="2957903"/>
            <a:ext cx="371475" cy="371475"/>
          </a:xfrm>
          <a:prstGeom prst="rect">
            <a:avLst/>
          </a:prstGeom>
          <a:solidFill>
            <a:srgbClr val="00FF41">
              <a:alpha val="20000"/>
            </a:srgbClr>
          </a:solidFill>
          <a:ln w="9144">
            <a:solidFill>
              <a:srgbClr val="00FF41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415088" y="2957903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572500" cy="10958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0"/>
            <a:ext cx="57150" cy="109589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658341"/>
            <a:ext cx="8358188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F2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VANTAGEM DO VETOR (ARRAY)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842963" y="1668512"/>
            <a:ext cx="442340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Vetores são Fundamentais?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42963" y="2054275"/>
            <a:ext cx="44234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Shell Sort brilha em estruturas de vetores devido à capacidade de acessar qualquer elemento instantaneamente através de seu índice.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42963" y="2868662"/>
            <a:ext cx="4423404" cy="43398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Shape 6"/>
          <p:cNvSpPr/>
          <p:nvPr/>
        </p:nvSpPr>
        <p:spPr>
          <a:xfrm>
            <a:off x="842963" y="2868662"/>
            <a:ext cx="28575" cy="433983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10" name="Text 7"/>
          <p:cNvSpPr/>
          <p:nvPr/>
        </p:nvSpPr>
        <p:spPr>
          <a:xfrm>
            <a:off x="842963" y="2868662"/>
            <a:ext cx="4423404" cy="433983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0FF41"/>
                </a:solidFill>
                <a:latin typeface="Fira Code" pitchFamily="34" charset="0"/>
                <a:ea typeface="Fira Code" pitchFamily="34" charset="-122"/>
                <a:cs typeface="Fira Code" pitchFamily="34" charset="-120"/>
              </a:rPr>
              <a:t>vetor[i] &lt;-&gt; vetor[i + gap]</a:t>
            </a:r>
            <a:endParaRPr lang="en-US" sz="11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8713" y="3593753"/>
            <a:ext cx="96441" cy="128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10878" y="3502670"/>
            <a:ext cx="755703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Eficiência de Salto: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066581" y="3502670"/>
            <a:ext cx="3199786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Diferente de listas ligadas, não é necessário percorrer elementos intermediários.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713" y="3961656"/>
            <a:ext cx="144661" cy="1285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59098" y="3870573"/>
            <a:ext cx="133789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Localidade de Referência: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2696989" y="3870573"/>
            <a:ext cx="2569378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 aproveitamento do cache do processador.</a:t>
            </a:r>
            <a:endParaRPr lang="en-US" sz="9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8713" y="4329559"/>
            <a:ext cx="128588" cy="1285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43025" y="4238476"/>
            <a:ext cx="792621" cy="3107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Cálculo Direto: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2135646" y="4238476"/>
            <a:ext cx="3130721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endereço de memória é calculado em tempo constante.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5623554" y="1539925"/>
            <a:ext cx="2694980" cy="448270"/>
          </a:xfrm>
          <a:prstGeom prst="rect">
            <a:avLst/>
          </a:prstGeom>
          <a:solidFill>
            <a:srgbClr val="00F2FF">
              <a:alpha val="10000"/>
            </a:srgbClr>
          </a:solidFill>
          <a:ln w="9144">
            <a:solidFill>
              <a:srgbClr val="00F2FF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623554" y="1539925"/>
            <a:ext cx="2694980" cy="448270"/>
          </a:xfrm>
          <a:prstGeom prst="rect">
            <a:avLst/>
          </a:prstGeom>
          <a:noFill/>
          <a:ln/>
        </p:spPr>
        <p:txBody>
          <a:bodyPr wrap="square" lIns="170053" tIns="85090" rIns="170053" bIns="8509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2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Acesso Aleatório: O(1)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5623554" y="2145357"/>
            <a:ext cx="2948946" cy="1394371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09279" y="2402086"/>
            <a:ext cx="277749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COMPARAÇÃO DE ESTRUTURA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5709279" y="2628900"/>
            <a:ext cx="31789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Vetor: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5709279" y="2794992"/>
            <a:ext cx="277749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Salto direto para qualquer posição. Ideal para Shell Sort.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5709279" y="3002161"/>
            <a:ext cx="68044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FF41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 Ligada: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5709279" y="3168253"/>
            <a:ext cx="2777496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888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Necessita percorrer N nós para chegar ao gap. Ineficiente.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572500" cy="10958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0"/>
            <a:ext cx="57150" cy="109589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658341"/>
            <a:ext cx="8358188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F2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ANÁLISE DE PERFORMANCE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842963" y="1468487"/>
            <a:ext cx="4466267" cy="247173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00F2FF">
                <a:alpha val="10000"/>
              </a:srgbClr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88" y="1554212"/>
            <a:ext cx="4279106" cy="2286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766429" y="1647081"/>
            <a:ext cx="280604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Escalabilidade Real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766429" y="1872109"/>
            <a:ext cx="2806043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Competitivo até 10.000 elementos.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5766429" y="2302157"/>
            <a:ext cx="280604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Baixo Overhead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766429" y="2527185"/>
            <a:ext cx="280604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custo de recursão; ideal para sistemas limitados.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766429" y="3137250"/>
            <a:ext cx="2806043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Prático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5766429" y="3362278"/>
            <a:ext cx="280604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Empregado em bibliotecas padrão por seu equilíbrio.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802511" y="4752380"/>
            <a:ext cx="2769989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Benchmarks comparativos de algoritmos de ordenação (PAA)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572500" cy="10958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0"/>
            <a:ext cx="57150" cy="1095896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658341"/>
            <a:ext cx="8358188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F2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COMPLEXIDADE DE TEMPO E ESPAÇO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842963" y="1611362"/>
            <a:ext cx="4466267" cy="3134320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42963" y="1611362"/>
            <a:ext cx="4466267" cy="28575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8" name="Text 5"/>
          <p:cNvSpPr/>
          <p:nvPr/>
        </p:nvSpPr>
        <p:spPr>
          <a:xfrm>
            <a:off x="842963" y="1825675"/>
            <a:ext cx="1394092" cy="40719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Cenário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237054" y="1825675"/>
            <a:ext cx="3072175" cy="40719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F2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Complexidade de Tempo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42963" y="2232868"/>
            <a:ext cx="1394092" cy="39469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Melhor Caso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237054" y="2232868"/>
            <a:ext cx="3072175" cy="39469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O(n log n)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42963" y="2627561"/>
            <a:ext cx="1394092" cy="39469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Médio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237054" y="2627561"/>
            <a:ext cx="3072175" cy="394692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Depende da sequência de gaps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42963" y="3022253"/>
            <a:ext cx="1394092" cy="42086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Pior Caso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344210" y="3159156"/>
            <a:ext cx="12287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O(n log² n) ou O(n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3572935" y="3132981"/>
            <a:ext cx="151805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baseline="3000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724740" y="3159156"/>
            <a:ext cx="51792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42963" y="3575279"/>
            <a:ext cx="4466267" cy="635794"/>
          </a:xfrm>
          <a:prstGeom prst="rect">
            <a:avLst/>
          </a:prstGeom>
          <a:noFill/>
          <a:ln/>
        </p:spPr>
        <p:txBody>
          <a:bodyPr wrap="square" lIns="127508" tIns="170053" rIns="127508" bIns="127508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A performance é altamente sensível à escolha da sequência de incrementos (Shell, Knuth, Sedgewick).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594979" y="1611362"/>
            <a:ext cx="2977493" cy="3134320"/>
          </a:xfrm>
          <a:prstGeom prst="rect">
            <a:avLst/>
          </a:prstGeom>
          <a:solidFill>
            <a:srgbClr val="00FF41">
              <a:alpha val="5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594979" y="1611362"/>
            <a:ext cx="2977493" cy="28575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21" name="Text 18"/>
          <p:cNvSpPr/>
          <p:nvPr/>
        </p:nvSpPr>
        <p:spPr>
          <a:xfrm>
            <a:off x="5809292" y="2025700"/>
            <a:ext cx="254886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FF4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Complexidade de Espaço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809292" y="2411462"/>
            <a:ext cx="2548868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5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O(1)</a:t>
            </a:r>
            <a:endParaRPr lang="en-US" sz="3500" dirty="0"/>
          </a:p>
        </p:txBody>
      </p:sp>
      <p:sp>
        <p:nvSpPr>
          <p:cNvPr id="23" name="Text 20"/>
          <p:cNvSpPr/>
          <p:nvPr/>
        </p:nvSpPr>
        <p:spPr>
          <a:xfrm>
            <a:off x="5809292" y="3138339"/>
            <a:ext cx="2548868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Shell Sort é um algoritmo </a:t>
            </a:r>
            <a:r>
              <a:rPr lang="en-US" sz="900" b="1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in-place</a:t>
            </a: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Ele </a:t>
            </a: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requer memória auxiliar proporcional </a:t>
            </a: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ao tamanho da entrada, operando </a:t>
            </a: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diretamente no vetor original.</a:t>
            </a:r>
            <a:endParaRPr lang="en-US" sz="95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292" y="4211687"/>
            <a:ext cx="128588" cy="12858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937879" y="4199186"/>
            <a:ext cx="229493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recursão (evita Stack Overflow).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0"/>
            <a:ext cx="8572500" cy="1095896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71500" y="0"/>
            <a:ext cx="57150" cy="1095896"/>
          </a:xfrm>
          <a:prstGeom prst="rect">
            <a:avLst/>
          </a:prstGeom>
          <a:solidFill>
            <a:srgbClr val="00FF41"/>
          </a:solidFill>
          <a:ln/>
        </p:spPr>
      </p:sp>
      <p:sp>
        <p:nvSpPr>
          <p:cNvPr id="5" name="Text 2"/>
          <p:cNvSpPr/>
          <p:nvPr/>
        </p:nvSpPr>
        <p:spPr>
          <a:xfrm>
            <a:off x="785813" y="658341"/>
            <a:ext cx="8358188" cy="437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00FF4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CONCLUSÃO E APLICABILIDADE</a:t>
            </a:r>
            <a:endParaRPr lang="en-US" sz="2450" dirty="0"/>
          </a:p>
        </p:txBody>
      </p:sp>
      <p:sp>
        <p:nvSpPr>
          <p:cNvPr id="6" name="Shape 3"/>
          <p:cNvSpPr/>
          <p:nvPr/>
        </p:nvSpPr>
        <p:spPr>
          <a:xfrm>
            <a:off x="842963" y="1754237"/>
            <a:ext cx="2433619" cy="196095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42963" y="1754237"/>
            <a:ext cx="2433619" cy="14288"/>
          </a:xfrm>
          <a:prstGeom prst="rect">
            <a:avLst/>
          </a:prstGeom>
          <a:solidFill>
            <a:srgbClr val="00FF4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1178" y="1968550"/>
            <a:ext cx="357188" cy="285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7275" y="2554337"/>
            <a:ext cx="2004994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Simplicidade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057275" y="2857946"/>
            <a:ext cx="200499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Fácil de implementar e não requer recursão, evitando problemas de estouro de pilha.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3490894" y="1754237"/>
            <a:ext cx="2433647" cy="196095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2" name="Shape 8"/>
          <p:cNvSpPr/>
          <p:nvPr/>
        </p:nvSpPr>
        <p:spPr>
          <a:xfrm>
            <a:off x="3490894" y="1754237"/>
            <a:ext cx="2433647" cy="14288"/>
          </a:xfrm>
          <a:prstGeom prst="rect">
            <a:avLst/>
          </a:prstGeom>
          <a:solidFill>
            <a:srgbClr val="00FF4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6969" y="1968550"/>
            <a:ext cx="321469" cy="285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05206" y="2554337"/>
            <a:ext cx="2005022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Eficiência In-place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3705206" y="2857946"/>
            <a:ext cx="200502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de memória constante O(1), ideal para ambientes com recursos limitados.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6138853" y="1754237"/>
            <a:ext cx="2433619" cy="1960959"/>
          </a:xfrm>
          <a:prstGeom prst="rect">
            <a:avLst/>
          </a:prstGeom>
          <a:solidFill>
            <a:srgbClr val="FFFFFF">
              <a:alpha val="2000"/>
            </a:srgbClr>
          </a:solidFill>
          <a:ln/>
        </p:spPr>
      </p:sp>
      <p:sp>
        <p:nvSpPr>
          <p:cNvPr id="17" name="Shape 12"/>
          <p:cNvSpPr/>
          <p:nvPr/>
        </p:nvSpPr>
        <p:spPr>
          <a:xfrm>
            <a:off x="6138853" y="1754237"/>
            <a:ext cx="2433619" cy="14288"/>
          </a:xfrm>
          <a:prstGeom prst="rect">
            <a:avLst/>
          </a:prstGeom>
          <a:solidFill>
            <a:srgbClr val="00FF4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4928" y="1968550"/>
            <a:ext cx="321469" cy="2857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353166" y="2554337"/>
            <a:ext cx="2004994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6353166" y="2857946"/>
            <a:ext cx="200499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B0B0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Excelente para vetores de tamanho médio e superior aos algoritmos quadráticos simples.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842963" y="3772346"/>
            <a:ext cx="7729538" cy="1348690"/>
          </a:xfrm>
          <a:prstGeom prst="rect">
            <a:avLst/>
          </a:prstGeom>
          <a:solidFill>
            <a:srgbClr val="00F2FF">
              <a:alpha val="5000"/>
            </a:srgbClr>
          </a:solidFill>
          <a:ln/>
        </p:spPr>
      </p:sp>
      <p:sp>
        <p:nvSpPr>
          <p:cNvPr id="22" name="Shape 16"/>
          <p:cNvSpPr/>
          <p:nvPr/>
        </p:nvSpPr>
        <p:spPr>
          <a:xfrm>
            <a:off x="842963" y="3772346"/>
            <a:ext cx="28575" cy="1348690"/>
          </a:xfrm>
          <a:prstGeom prst="rect">
            <a:avLst/>
          </a:prstGeom>
          <a:solidFill>
            <a:srgbClr val="00F2FF"/>
          </a:solidFill>
          <a:ln/>
        </p:spPr>
      </p:sp>
      <p:sp>
        <p:nvSpPr>
          <p:cNvPr id="23" name="Text 17"/>
          <p:cNvSpPr/>
          <p:nvPr/>
        </p:nvSpPr>
        <p:spPr>
          <a:xfrm>
            <a:off x="985838" y="4086671"/>
            <a:ext cx="7443788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"O Shell Sort é uma </a:t>
            </a:r>
            <a:r>
              <a:rPr lang="en-US" sz="1200" b="1" i="1" dirty="0">
                <a:solidFill>
                  <a:srgbClr val="00F2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ponte vital</a:t>
            </a:r>
            <a:r>
              <a:rPr lang="en-US" sz="12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entre algoritmos simples e complexos, oferecendo uma </a:t>
            </a:r>
            <a:r>
              <a:rPr lang="en-US" sz="12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 robusta e eficiente para a ordenação de vetores em diversos cenários práticos de </a:t>
            </a:r>
            <a:r>
              <a:rPr lang="en-US" sz="125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engenharia."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2026-04-29T01:33:03Z</dcterms:created>
  <dcterms:modified xsi:type="dcterms:W3CDTF">2026-04-29T01:33:03Z</dcterms:modified>
</cp:coreProperties>
</file>